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05"/>
  </p:normalViewPr>
  <p:slideViewPr>
    <p:cSldViewPr snapToGrid="0" snapToObjects="1">
      <p:cViewPr varScale="1">
        <p:scale>
          <a:sx n="101" d="100"/>
          <a:sy n="101" d="100"/>
        </p:scale>
        <p:origin x="9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046720" y="1143000"/>
            <a:ext cx="2377440" cy="4480560"/>
          </a:xfrm>
          <a:prstGeom prst="roundRect">
            <a:avLst/>
          </a:prstGeom>
          <a:solidFill>
            <a:srgbClr val="162A42"/>
          </a:solidFill>
          <a:ln>
            <a:solidFill>
              <a:srgbClr val="16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75320" y="1508760"/>
            <a:ext cx="192024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36508" y="2549144"/>
            <a:ext cx="1188720" cy="1828800"/>
          </a:xfrm>
          <a:prstGeom prst="roundRect">
            <a:avLst/>
          </a:prstGeom>
          <a:solidFill>
            <a:srgbClr val="2D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25128" y="2331720"/>
            <a:ext cx="411480" cy="201168"/>
          </a:xfrm>
          <a:prstGeom prst="rect">
            <a:avLst/>
          </a:prstGeom>
          <a:solidFill>
            <a:srgbClr val="2D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5847080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62A42"/>
                </a:solidFill>
                <a:latin typeface="Aptos Display"/>
              </a:defRPr>
            </a:pPr>
            <a:r>
              <a:rPr dirty="0"/>
              <a:t>Better Batteries</a:t>
            </a:r>
          </a:p>
          <a:p>
            <a:pPr>
              <a:spcBef>
                <a:spcPts val="800"/>
              </a:spcBef>
              <a:defRPr sz="2500">
                <a:solidFill>
                  <a:srgbClr val="2D7A7E"/>
                </a:solidFill>
                <a:latin typeface="Aptos Display"/>
              </a:defRPr>
            </a:pPr>
            <a:r>
              <a:rPr dirty="0"/>
              <a:t>Driving Sustainable Power Solutions for Smartphones</a:t>
            </a:r>
          </a:p>
          <a:p>
            <a:pPr>
              <a:spcBef>
                <a:spcPts val="2200"/>
              </a:spcBef>
              <a:defRPr sz="1800">
                <a:solidFill>
                  <a:srgbClr val="232323"/>
                </a:solidFill>
                <a:latin typeface="Aptos"/>
              </a:defRPr>
            </a:pPr>
            <a:r>
              <a:rPr dirty="0"/>
              <a:t>How silicon-carbon anodes could improve performance while battery supply chains become more responsible.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74536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Aptos"/>
              </a:defRPr>
            </a:pPr>
            <a:r>
              <a:rPr dirty="0"/>
              <a:t>ENG0018 Computer Laboratory • Conference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A42"/>
                </a:solidFill>
                <a:latin typeface="Aptos Display"/>
              </a:defRPr>
            </a:pPr>
            <a:r>
              <a:t>1. Why current smartphone batteries are a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7A7E"/>
                </a:solidFill>
                <a:latin typeface="Aptos"/>
              </a:defRPr>
            </a:pPr>
            <a:r>
              <a:t>Battery technology has to keep pace with increasingly capable smartphones.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212080" cy="4434840"/>
          </a:xfrm>
          <a:prstGeom prst="roundRect">
            <a:avLst/>
          </a:prstGeom>
          <a:solidFill>
            <a:srgbClr val="F4F7F8"/>
          </a:solidFill>
          <a:ln>
            <a:solidFill>
              <a:srgbClr val="DA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D7A7E"/>
                </a:solidFill>
                <a:latin typeface="Aptos Display"/>
              </a:defRPr>
            </a:pPr>
            <a:r>
              <a:t>Ethical &amp; environmental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5212080" cy="4434840"/>
          </a:xfrm>
          <a:prstGeom prst="roundRect">
            <a:avLst/>
          </a:prstGeom>
          <a:solidFill>
            <a:srgbClr val="F4F7F8"/>
          </a:solidFill>
          <a:ln>
            <a:solidFill>
              <a:srgbClr val="DA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D7A7E"/>
                </a:solidFill>
                <a:latin typeface="Aptos Display"/>
              </a:defRPr>
            </a:pPr>
            <a:r>
              <a:t>Technical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572000" cy="31089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Cobalt mining has been linked to child labour, unsafe working conditions and environmental degradation in the DRC.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Mining can contaminate soil and water and damage local ecosystems.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Greater transparency and international regulation are needed.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40280"/>
            <a:ext cx="4572000" cy="31089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Capacity fades as lithium-ion cells age.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Lithium plating, structural instability and SEI growth contribute to degradation.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More powerful processors, AI features and high-refresh displays increase energy demand.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574536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Aptos"/>
              </a:defRPr>
            </a:pPr>
            <a:r>
              <a:t>Sources: Rights Lab, University of Nottingham (2025); The Guardian (2024); Rahman and Alharbi (2024)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A42"/>
                </a:solidFill>
                <a:latin typeface="Aptos Display"/>
              </a:defRPr>
            </a:pPr>
            <a:r>
              <a:t>2. Silicon-carbon: improving the anode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7A7E"/>
                </a:solidFill>
                <a:latin typeface="Aptos"/>
              </a:defRPr>
            </a:pPr>
            <a:r>
              <a:t>Silicon-carbon is an evolution of lithium-ion technology rather than a completely different battery chemistry.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663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66560" y="1463040"/>
            <a:ext cx="4663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4023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62A42"/>
                </a:solidFill>
                <a:latin typeface="Aptos Display"/>
              </a:defRPr>
            </a:pPr>
            <a:r>
              <a:t>Traditional graphite anode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60320"/>
            <a:ext cx="4023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D7A7E"/>
                </a:solidFill>
                <a:latin typeface="Aptos Display"/>
              </a:defRPr>
            </a:pPr>
            <a:r>
              <a:t>≈372 mAh g⁻¹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1783080"/>
            <a:ext cx="4023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62A42"/>
                </a:solidFill>
                <a:latin typeface="Aptos Display"/>
              </a:defRPr>
            </a:pPr>
            <a:r>
              <a:t>Silicon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2560320"/>
            <a:ext cx="4023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D7A7E"/>
                </a:solidFill>
                <a:latin typeface="Aptos Display"/>
              </a:defRPr>
            </a:pPr>
            <a:r>
              <a:t>≈4,200 mAh g⁻¹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566160"/>
            <a:ext cx="3931920" cy="13716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Stable and well established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Lower theoretical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3566160"/>
            <a:ext cx="3931920" cy="13716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Stores far more lithium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But expands heavily during charging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440680" y="2880360"/>
            <a:ext cx="1188720" cy="731520"/>
          </a:xfrm>
          <a:prstGeom prst="rightArrow">
            <a:avLst/>
          </a:prstGeom>
          <a:solidFill>
            <a:srgbClr val="2D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46120" y="5074920"/>
            <a:ext cx="5760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62A42"/>
                </a:solidFill>
                <a:latin typeface="Aptos"/>
              </a:defRPr>
            </a:pPr>
            <a:r>
              <a:rPr dirty="0"/>
              <a:t>Carbon helps buffer silicon’s volume changes → better structural stability and cycle performance.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74536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Aptos"/>
              </a:defRPr>
            </a:pPr>
            <a:r>
              <a:t>Sources: Park et al. (2024); Park, Lee and Chae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A42"/>
                </a:solidFill>
                <a:latin typeface="Aptos Display"/>
              </a:defRPr>
            </a:pPr>
            <a:r>
              <a:t>3. From laboratory research to real smartphones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7A7E"/>
                </a:solidFill>
                <a:latin typeface="Aptos"/>
              </a:defRPr>
            </a:pPr>
            <a:r>
              <a:t>The technology is already moving into consumer devices.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278638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2D7A7E"/>
                </a:solidFill>
                <a:latin typeface="Aptos Display"/>
              </a:defRPr>
            </a:pPr>
            <a:r>
              <a:rPr dirty="0"/>
              <a:t>≈850</a:t>
            </a:r>
          </a:p>
          <a:p>
            <a:pPr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 err="1"/>
              <a:t>mAh</a:t>
            </a:r>
            <a:r>
              <a:rPr dirty="0"/>
              <a:t> g⁻¹ demonstrated by Si/C composites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00200"/>
            <a:ext cx="6675120" cy="34747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Research reports improved capacity, rate performance and cycle stability compared with conventional graphite.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HONOR’s silicon-carbon battery was recognised in TIME’s Best Inventions 2025.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Higher energy density can support longer battery life and more demanding smartphone features.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51960"/>
            <a:ext cx="10789920" cy="1143000"/>
          </a:xfrm>
          <a:prstGeom prst="roundRect">
            <a:avLst/>
          </a:prstGeom>
          <a:solidFill>
            <a:srgbClr val="F4F7F8"/>
          </a:solidFill>
          <a:ln>
            <a:solidFill>
              <a:srgbClr val="DA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480560"/>
            <a:ext cx="9961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2A42"/>
                </a:solidFill>
                <a:latin typeface="Aptos"/>
              </a:defRPr>
            </a:pPr>
            <a:r>
              <a:rPr dirty="0"/>
              <a:t>Why it matters: more capacity in a similar space could make multi-day battery life and increasingly powerful mobile hardware more practical.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74536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Aptos"/>
              </a:defRPr>
            </a:pPr>
            <a:r>
              <a:t>Sources: Park et al. (2024); TIME (2025)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A42"/>
                </a:solidFill>
                <a:latin typeface="Aptos Display"/>
              </a:defRPr>
            </a:pPr>
            <a:r>
              <a:t>4. Better batteries need more than better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7A7E"/>
                </a:solidFill>
                <a:latin typeface="Aptos"/>
              </a:defRPr>
            </a:pPr>
            <a:r>
              <a:t>Efficiency, sustainability and ethics have to develop together.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28346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A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D7A7E"/>
                </a:solidFill>
                <a:latin typeface="Aptos Display"/>
              </a:defRPr>
            </a:pPr>
            <a:r>
              <a:t>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13893"/>
            <a:ext cx="2092960" cy="11387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Higher capacity</a:t>
            </a:r>
            <a:br>
              <a:rPr dirty="0"/>
            </a:br>
            <a:r>
              <a:rPr dirty="0"/>
              <a:t>Longer battery life</a:t>
            </a:r>
            <a:br>
              <a:rPr dirty="0"/>
            </a:br>
            <a:r>
              <a:rPr dirty="0"/>
              <a:t>Support for demanding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600200"/>
            <a:ext cx="28346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A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34840" y="187451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D7A7E"/>
                </a:solidFill>
                <a:latin typeface="Aptos Display"/>
              </a:defRPr>
            </a:pPr>
            <a:r>
              <a:t>Sustainability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560320"/>
            <a:ext cx="18872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Longer device lifespans</a:t>
            </a:r>
            <a:br>
              <a:rPr dirty="0"/>
            </a:br>
            <a:r>
              <a:rPr dirty="0"/>
              <a:t>Less pressure for replacement</a:t>
            </a:r>
            <a:br>
              <a:rPr dirty="0"/>
            </a:br>
            <a:r>
              <a:rPr dirty="0"/>
              <a:t>Lower resource demand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600200"/>
            <a:ext cx="28346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A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187451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D7A7E"/>
                </a:solidFill>
                <a:latin typeface="Aptos Display"/>
              </a:defRPr>
            </a:pPr>
            <a:r>
              <a:t>Ethics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560320"/>
            <a:ext cx="2286000" cy="1645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Fairer working conditions</a:t>
            </a:r>
            <a:br>
              <a:rPr dirty="0"/>
            </a:br>
            <a:r>
              <a:rPr dirty="0"/>
              <a:t>Responsible sourcing</a:t>
            </a:r>
            <a:br>
              <a:rPr dirty="0"/>
            </a:br>
            <a:r>
              <a:rPr dirty="0"/>
              <a:t>Stronger regulation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99441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2A42"/>
                </a:solidFill>
                <a:latin typeface="Aptos Display"/>
              </a:defRPr>
            </a:pPr>
            <a:r>
              <a:rPr dirty="0"/>
              <a:t>Silicon-carbon anodes are a promising step forward — but the future of smartphone batteries depends on combining engineering innovation with responsible supply chains.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74536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Aptos"/>
              </a:defRPr>
            </a:pPr>
            <a:r>
              <a:t>Conclusion • Based on the conference paper and cited 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435</Words>
  <Application>Microsoft Macintosh PowerPoint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Oladimeji, Ayo (UG - Comp Sci &amp; Elec Eng)</cp:lastModifiedBy>
  <cp:revision>2</cp:revision>
  <dcterms:created xsi:type="dcterms:W3CDTF">2013-01-27T09:14:16Z</dcterms:created>
  <dcterms:modified xsi:type="dcterms:W3CDTF">2026-09-01T12:16:15Z</dcterms:modified>
  <cp:category/>
</cp:coreProperties>
</file>